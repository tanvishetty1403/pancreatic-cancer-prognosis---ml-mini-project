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10789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Pancreatic Cancer Prognosis
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24612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9D4DB"/>
                </a:solidFill>
                <a:latin typeface="Aptos"/>
              </a:rPr>
              <a:t>Survival prediction with Cox Proportional Hazards + clinical &amp; gene-expression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4069080"/>
            <a:ext cx="2057400" cy="50292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16052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ML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15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FA1AE"/>
                </a:solidFill>
                <a:latin typeface="Aptos"/>
              </a:rPr>
              <a:t>TCGA-PAAD • Python • Lifelines •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7"/>
                </a:solidFill>
                <a:latin typeface="Aptos"/>
              </a:rPr>
              <a:t>Pancreatic Cancer Prognosis • ML Mini Project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202B"/>
                </a:solidFill>
                <a:latin typeface="Aptos Display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77"/>
                </a:solidFill>
                <a:latin typeface="Aptos"/>
              </a:rPr>
              <a:t>Why prognosis prediction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337560" cy="141732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64792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2A9D8F"/>
                </a:solidFill>
                <a:latin typeface="Aptos Display"/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6B77"/>
                </a:solidFill>
                <a:latin typeface="Aptos"/>
              </a:rPr>
              <a:t>patients in TCGA-PAAD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00200"/>
            <a:ext cx="3337560" cy="141732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1764792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C0392B"/>
                </a:solidFill>
                <a:latin typeface="Aptos Display"/>
              </a:rPr>
              <a:t>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46888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6B77"/>
                </a:solidFill>
                <a:latin typeface="Aptos"/>
              </a:rPr>
              <a:t>observed deaths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1600200"/>
            <a:ext cx="3337560" cy="141732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03336" y="1764792"/>
            <a:ext cx="2880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D99A1E"/>
                </a:solidFill>
                <a:latin typeface="Aptos Display"/>
              </a:rPr>
              <a:t>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6" y="246888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6B77"/>
                </a:solidFill>
                <a:latin typeface="Aptos"/>
              </a:rPr>
              <a:t>right-censored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29000"/>
            <a:ext cx="10972800" cy="224028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A9D8F"/>
                </a:solidFill>
                <a:latin typeface="Aptos"/>
              </a:rPr>
              <a:t>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1024128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4202B"/>
                </a:solidFill>
                <a:latin typeface="Aptos"/>
              </a:defRPr>
            </a:pPr>
            <a:r>
              <a:t>• Estimate overall survival risk for pancreatic cancer patients.</a:t>
            </a:r>
          </a:p>
          <a:p>
            <a:pPr>
              <a:spcAft>
                <a:spcPts val="1200"/>
              </a:spcAft>
              <a:defRPr sz="1600">
                <a:solidFill>
                  <a:srgbClr val="14202B"/>
                </a:solidFill>
                <a:latin typeface="Aptos"/>
              </a:defRPr>
            </a:pPr>
            <a:r>
              <a:t>• Combine clinical variables with high-dimensional gene-expression information.</a:t>
            </a:r>
          </a:p>
          <a:p>
            <a:pPr>
              <a:spcAft>
                <a:spcPts val="1200"/>
              </a:spcAft>
              <a:defRPr sz="1600">
                <a:solidFill>
                  <a:srgbClr val="14202B"/>
                </a:solidFill>
                <a:latin typeface="Aptos"/>
              </a:defRPr>
            </a:pPr>
            <a:r>
              <a:t>• Convert the trained model into an interactive web-based risk calculator.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7"/>
                </a:solidFill>
                <a:latin typeface="Aptos"/>
              </a:rPr>
              <a:t>Pancreatic Cancer Prognosis • ML Mini Project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202B"/>
                </a:solidFill>
                <a:latin typeface="Aptos Display"/>
              </a:rPr>
              <a:t>Dataset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77"/>
                </a:solidFill>
                <a:latin typeface="Aptos"/>
              </a:rPr>
              <a:t>Public TCGA-PAAD cohort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29000" cy="320040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2A9D8F"/>
                </a:solidFill>
                <a:latin typeface="Aptos"/>
              </a:rPr>
              <a:t>Clinical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2926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202B"/>
                </a:solidFill>
                <a:latin typeface="Aptos"/>
              </a:rPr>
              <a:t>Age, weight, AJCC stage, T stage, lymph-node status,
metastasis and treatment-related variables.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29000" cy="320040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6596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D99A1E"/>
                </a:solidFill>
                <a:latin typeface="Aptos"/>
              </a:rPr>
              <a:t>Gene 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697480"/>
            <a:ext cx="2926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202B"/>
                </a:solidFill>
                <a:latin typeface="Aptos"/>
              </a:rPr>
              <a:t>Top-variance gene-expression features are used to
capture molecular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645920"/>
            <a:ext cx="3429000" cy="320040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96596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C0392B"/>
                </a:solidFill>
                <a:latin typeface="Aptos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697480"/>
            <a:ext cx="2926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202B"/>
                </a:solidFill>
                <a:latin typeface="Aptos"/>
              </a:rPr>
              <a:t>Duration = overall survival in months.
Event = death; non-events are right-censored.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107899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C6B77"/>
                </a:solidFill>
                <a:latin typeface="Aptos"/>
              </a:rPr>
              <a:t>Preprocessing: missing-value median imputation • removal of low-information binary features • standardisation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7"/>
                </a:solidFill>
                <a:latin typeface="Aptos"/>
              </a:rPr>
              <a:t>Pancreatic Cancer Prognosis • ML Mini Project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202B"/>
                </a:solidFill>
                <a:latin typeface="Aptos Display"/>
              </a:rPr>
              <a:t>Machine Learning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77"/>
                </a:solidFill>
                <a:latin typeface="Aptos"/>
              </a:rPr>
              <a:t>Ridge-penalised Cox Proportional Hazards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1554480"/>
            <a:ext cx="594360" cy="5943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1965960" cy="224028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63347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4202B"/>
                </a:solidFill>
                <a:latin typeface="Aptos"/>
              </a:rP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3246120"/>
            <a:ext cx="1645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C6B77"/>
                </a:solidFill>
                <a:latin typeface="Aptos"/>
              </a:rPr>
              <a:t>Clean clinical + expression data</a:t>
            </a:r>
          </a:p>
        </p:txBody>
      </p:sp>
      <p:sp>
        <p:nvSpPr>
          <p:cNvPr id="8" name="Oval 7"/>
          <p:cNvSpPr/>
          <p:nvPr/>
        </p:nvSpPr>
        <p:spPr>
          <a:xfrm>
            <a:off x="3447288" y="1554480"/>
            <a:ext cx="594360" cy="5943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2377440"/>
            <a:ext cx="1965960" cy="224028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63347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4202B"/>
                </a:solidFill>
                <a:latin typeface="Aptos"/>
              </a:rPr>
              <a:t>Standardise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246120"/>
            <a:ext cx="1645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C6B77"/>
                </a:solidFill>
                <a:latin typeface="Aptos"/>
              </a:rPr>
              <a:t>Scale features using training-fold statistics</a:t>
            </a:r>
          </a:p>
        </p:txBody>
      </p:sp>
      <p:sp>
        <p:nvSpPr>
          <p:cNvPr id="12" name="Oval 11"/>
          <p:cNvSpPr/>
          <p:nvPr/>
        </p:nvSpPr>
        <p:spPr>
          <a:xfrm>
            <a:off x="5751576" y="1554480"/>
            <a:ext cx="594360" cy="5943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1496" y="2377440"/>
            <a:ext cx="1965960" cy="224028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263347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4202B"/>
                </a:solidFill>
                <a:latin typeface="Aptos"/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3246120"/>
            <a:ext cx="1645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C6B77"/>
                </a:solidFill>
                <a:latin typeface="Aptos"/>
              </a:rPr>
              <a:t>Cox PH with L2 / ridge penalty</a:t>
            </a:r>
          </a:p>
        </p:txBody>
      </p:sp>
      <p:sp>
        <p:nvSpPr>
          <p:cNvPr id="16" name="Oval 15"/>
          <p:cNvSpPr/>
          <p:nvPr/>
        </p:nvSpPr>
        <p:spPr>
          <a:xfrm>
            <a:off x="8055864" y="1554480"/>
            <a:ext cx="594360" cy="5943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5784" y="2377440"/>
            <a:ext cx="1965960" cy="224028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6" y="263347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4202B"/>
                </a:solidFill>
                <a:latin typeface="Aptos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6" y="3246120"/>
            <a:ext cx="1645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C6B77"/>
                </a:solidFill>
                <a:latin typeface="Aptos"/>
              </a:rPr>
              <a:t>10-fold cross-validation + concordance index</a:t>
            </a:r>
          </a:p>
        </p:txBody>
      </p:sp>
      <p:sp>
        <p:nvSpPr>
          <p:cNvPr id="20" name="Oval 19"/>
          <p:cNvSpPr/>
          <p:nvPr/>
        </p:nvSpPr>
        <p:spPr>
          <a:xfrm>
            <a:off x="10360152" y="1554480"/>
            <a:ext cx="594360" cy="59436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0072" y="2377440"/>
            <a:ext cx="1965960" cy="224028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84664" y="263347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4202B"/>
                </a:solidFill>
                <a:latin typeface="Aptos"/>
              </a:rPr>
              <a:t>Interpret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4664" y="3246120"/>
            <a:ext cx="1645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C6B77"/>
                </a:solidFill>
                <a:latin typeface="Aptos"/>
              </a:rPr>
              <a:t>KM curves, hazard ratios &amp; survival curves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A9D8F"/>
                </a:solidFill>
                <a:latin typeface="Aptos"/>
              </a:rPr>
              <a:t>Final configuration: top 100 variance genes • L2 penaliser = 1.0 • random seed = 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7"/>
                </a:solidFill>
                <a:latin typeface="Aptos"/>
              </a:rPr>
              <a:t>Pancreatic Cancer Prognosis • ML Mini Project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202B"/>
                </a:solidFill>
                <a:latin typeface="Aptos Display"/>
              </a:rP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77"/>
                </a:solidFill>
                <a:latin typeface="Aptos"/>
              </a:rPr>
              <a:t>Concordance index: how well the model ranks survival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96012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810512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202B"/>
                </a:solidFill>
                <a:latin typeface="Aptos"/>
              </a:rPr>
              <a:t>Clinical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7373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000" b="1">
                <a:solidFill>
                  <a:srgbClr val="D99A1E"/>
                </a:solidFill>
                <a:latin typeface="Aptos Display"/>
              </a:rPr>
              <a:t>0.63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34640"/>
            <a:ext cx="10332720" cy="96012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044952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202B"/>
                </a:solidFill>
                <a:latin typeface="Aptos"/>
              </a:rPr>
              <a:t>Gene expression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97180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000" b="1">
                <a:solidFill>
                  <a:srgbClr val="D99A1E"/>
                </a:solidFill>
                <a:latin typeface="Aptos Display"/>
              </a:rPr>
              <a:t>0.64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69080"/>
            <a:ext cx="10332720" cy="96012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279392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4202B"/>
                </a:solidFill>
                <a:latin typeface="Aptos"/>
              </a:rPr>
              <a:t>Combined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20624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3000" b="1">
                <a:solidFill>
                  <a:srgbClr val="2A9D8F"/>
                </a:solidFill>
                <a:latin typeface="Aptos Display"/>
              </a:rPr>
              <a:t>0.67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C6B77"/>
                </a:solidFill>
                <a:latin typeface="Aptos"/>
              </a:rPr>
              <a:t>0.50 ≈ random ranking • 1.00 = perfect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7"/>
                </a:solidFill>
                <a:latin typeface="Aptos"/>
              </a:rPr>
              <a:t>Pancreatic Cancer Prognosis • ML Mini Project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202B"/>
                </a:solidFill>
                <a:latin typeface="Aptos Display"/>
              </a:rPr>
              <a:t>Survival Risk Stratification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77"/>
                </a:solidFill>
                <a:latin typeface="Aptos"/>
              </a:rPr>
              <a:t>Kaplan–Meier analysis using out-of-fold risk scores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6629400" cy="4297680"/>
          </a:xfrm>
          <a:prstGeom prst="round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234440" y="5257800"/>
            <a:ext cx="5532120" cy="0"/>
          </a:xfrm>
          <a:prstGeom prst="line">
            <a:avLst/>
          </a:prstGeom>
          <a:ln>
            <a:solidFill>
              <a:srgbClr val="5C6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2011680"/>
            <a:ext cx="0" cy="3246120"/>
          </a:xfrm>
          <a:prstGeom prst="line">
            <a:avLst/>
          </a:prstGeom>
          <a:ln>
            <a:solidFill>
              <a:srgbClr val="5C6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80160" y="2148840"/>
            <a:ext cx="548640" cy="137160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2286000"/>
            <a:ext cx="457200" cy="182880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86000" y="2468880"/>
            <a:ext cx="548640" cy="182880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34640" y="2651760"/>
            <a:ext cx="548640" cy="228600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383280" y="2880360"/>
            <a:ext cx="731520" cy="274320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" y="3154680"/>
            <a:ext cx="822960" cy="320040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3474720"/>
            <a:ext cx="822960" cy="320040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60720" y="3794760"/>
            <a:ext cx="822960" cy="274320"/>
          </a:xfrm>
          <a:prstGeom prst="line">
            <a:avLst/>
          </a:prstGeom>
          <a:ln w="381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80160" y="2240280"/>
            <a:ext cx="457200" cy="32004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37360" y="2560320"/>
            <a:ext cx="411480" cy="32004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48840" y="2880360"/>
            <a:ext cx="411480" cy="36576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60320" y="3246120"/>
            <a:ext cx="457200" cy="32004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17520" y="3566160"/>
            <a:ext cx="640080" cy="32004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57600" y="3886200"/>
            <a:ext cx="731520" cy="36576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89120" y="4251960"/>
            <a:ext cx="914400" cy="32004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03520" y="4572000"/>
            <a:ext cx="1280160" cy="27432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1828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6B77"/>
                </a:solidFill>
                <a:latin typeface="Aptos"/>
              </a:rPr>
              <a:t>Survival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54406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C6B77"/>
                </a:solidFill>
                <a:latin typeface="Aptos"/>
              </a:rPr>
              <a:t>Months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1828800"/>
            <a:ext cx="2560320" cy="50292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192024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LOW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2606040"/>
            <a:ext cx="256032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269748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HIGH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42900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4202B"/>
                </a:solidFill>
                <a:latin typeface="Aptos"/>
              </a:rPr>
              <a:t>Patients are split at the median out-of-fold risk score.
Out-of-fold scoring avoids evaluating patients with a model that trained on their outcomes.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49834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77"/>
                </a:solidFill>
                <a:latin typeface="Aptos"/>
              </a:rPr>
              <a:t>Log-rank test + hazard ratio quantify separation.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7"/>
                </a:solidFill>
                <a:latin typeface="Aptos"/>
              </a:rPr>
              <a:t>Pancreatic Cancer Prognosis • ML Mini Project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202B"/>
                </a:solidFill>
                <a:latin typeface="Aptos Display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77"/>
                </a:solidFill>
                <a:latin typeface="Aptos"/>
              </a:rPr>
              <a:t>Hazard ratios and feature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429000" cy="192024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C0392B"/>
                </a:solidFill>
                <a:latin typeface="Aptos Display"/>
              </a:rPr>
              <a:t>HR &gt;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4202B"/>
                </a:solidFill>
                <a:latin typeface="Aptos"/>
              </a:rPr>
              <a:t>Higher hazard → shorter expected survival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429000" cy="192024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A9D8F"/>
                </a:solidFill>
                <a:latin typeface="Aptos Display"/>
              </a:rPr>
              <a:t>HR &lt;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060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4202B"/>
                </a:solidFill>
                <a:latin typeface="Aptos"/>
              </a:rPr>
              <a:t>Lower hazard → longer expected survival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45920"/>
            <a:ext cx="3429000" cy="192024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D99A1E"/>
                </a:solidFill>
                <a:latin typeface="Aptos Display"/>
              </a:rPr>
              <a:t>95%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060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4202B"/>
                </a:solidFill>
                <a:latin typeface="Aptos"/>
              </a:rPr>
              <a:t>Wide intervals reflect uncertainty in a small cohort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69080"/>
            <a:ext cx="10744200" cy="1417320"/>
          </a:xfrm>
          <a:prstGeom prst="roundRect">
            <a:avLst/>
          </a:prstGeom>
          <a:solidFill>
            <a:srgbClr val="142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15968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The model is designed for ranking and risk stratification — not as a clinical diagnosis.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9D4DB"/>
                </a:solidFill>
                <a:latin typeface="Aptos"/>
              </a:rPr>
              <a:t>Top features are examined through forest plots and model-based covariate survival curves.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7"/>
                </a:solidFill>
                <a:latin typeface="Aptos"/>
              </a:rPr>
              <a:t>Pancreatic Cancer Prognosis • ML Mini Project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202B"/>
                </a:solidFill>
                <a:latin typeface="Aptos Display"/>
              </a:rPr>
              <a:t>Streamlit Web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C6B77"/>
                </a:solidFill>
                <a:latin typeface="Aptos"/>
              </a:rPr>
              <a:t>From trained model to an interactive risk calculator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429000" cy="301752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A9D8F"/>
                </a:solidFill>
                <a:latin typeface="Aptos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2834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4202B"/>
                </a:solidFill>
                <a:latin typeface="Aptos"/>
              </a:rPr>
              <a:t>Clinical controls + selected gene-expression sliders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91640"/>
            <a:ext cx="3429000" cy="301752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574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D99A1E"/>
                </a:solidFill>
                <a:latin typeface="Aptos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788920"/>
            <a:ext cx="2834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4202B"/>
                </a:solidFill>
                <a:latin typeface="Aptos"/>
              </a:rPr>
              <a:t>Standardise → Cox model → log-hazard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91640"/>
            <a:ext cx="3429000" cy="3017520"/>
          </a:xfrm>
          <a:prstGeom prst="roundRect">
            <a:avLst/>
          </a:prstGeom>
          <a:solidFill>
            <a:srgbClr val="EE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0574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Aptos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788920"/>
            <a:ext cx="2834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4202B"/>
                </a:solidFill>
                <a:latin typeface="Aptos"/>
              </a:rPr>
              <a:t>Relative hazard, percentile, risk group &amp; survival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57800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C6B77"/>
                </a:solidFill>
                <a:latin typeface="Aptos"/>
              </a:rPr>
              <a:t>Live application: pancreatic-cancer-prognosis---ml-mini-project-fshsq7pxximhe8xu.streamlit.app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7"/>
                </a:solidFill>
                <a:latin typeface="Aptos"/>
              </a:rPr>
              <a:t>Pancreatic Cancer Prognosis • ML Mini Project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 Display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4DB"/>
                </a:solidFill>
                <a:latin typeface="Aptos"/>
              </a:rPr>
              <a:t>Research prototype — not a clinical decision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A9D8F"/>
                </a:solidFill>
                <a:latin typeface="Aptos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12064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Combining clinical + gene-expression features produced the strongest C-index: 0.67.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Out-of-fold risk scores enable honest survival-group evaluation.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Streamlit makes the model easy to demonstrate at patient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0876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99A1E"/>
                </a:solidFill>
                <a:latin typeface="Aptos"/>
              </a:rPr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12064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Use nested cross-validation or a held-out external cohort.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Increase cohort size and validate across independent populations.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Add stronger explainability and calibration analysis.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Assess clinical utility before any real-world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789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C6B77"/>
                </a:solidFill>
                <a:latin typeface="Aptos"/>
              </a:rPr>
              <a:t>Pancreatic Cancer Prognosis • ML Mini Project                                  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