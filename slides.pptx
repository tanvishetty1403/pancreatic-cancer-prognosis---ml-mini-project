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(20s): we predict overall survival in pancreatic cancer with Cox models. Tanvi built the models; I'll show what the models say and let you try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TCGA-PAAD stands in for the Stanford data in the reference paper, which is under NDA. Gene expression plays the role of the radiomic features: high-dimensional, few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Features are standardised inside each training fold so nothing leaks from the test fold. Penalty and gene count were tuned by a sweep on the same CV, so tuned scores are slightly optimistic.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Clinical alone is about 0.63. Expression alone is poor untuned but reaches 0.64 once regularised properly. Combined is best at 0.67. Tuned numbers are the best of a sweep on the same CV, so slightly optimistic.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patient is scored by a model that never saw them (out-of-fold), then split at the median. The log-rank test asks whether the two curves could plausibly be the same. Point at the at-risk table: the tail is thin, so late-time estimates are noisy.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Hazard ratio above 1 means shorter survival. Red intervals exclude 1. With 183 patients most intervals are wide and cross 1; that width is the honest message. Clinical model in natural units, combined model per one standard deviation.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panel changes one feature and holds everything else at the cohort median. This is the model's prediction, not raw data, so it shows direction and size of effect, not a new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browser: streamlit run demo_app.py. Follow demo_script.md.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three takeaways, then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Pancreatic cancer prognosis with Cox survival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4DB"/>
                </a:solidFill>
                <a:latin typeface="Calibri"/>
              </a:rPr>
              <a:t>Risk stratification, hazard ratios and a live risk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A1AE"/>
                </a:solidFill>
                <a:latin typeface="Calibri"/>
              </a:rPr>
              <a:t>UE24CS352A Machine Learning mini-project · Tanvi B. Shetty · Y. V. Bhavana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02B"/>
                </a:solidFill>
                <a:latin typeface="Cambria"/>
              </a:rPr>
              <a:t>Data: TCGA-PAAD, 183 patients, 99 deaths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01952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9D8F"/>
                </a:solidFill>
                <a:latin typeface="Cambria"/>
              </a:rPr>
              <a:t>183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243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77"/>
                </a:solidFill>
                <a:latin typeface="Calibri"/>
              </a:rPr>
              <a:t>patients (TCGA-PAAD PanCancer Atlas)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Cambria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243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77"/>
                </a:solidFill>
                <a:latin typeface="Calibri"/>
              </a:rPr>
              <a:t>observed deaths (the rest are censored)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01952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D99A1E"/>
                </a:solidFill>
                <a:latin typeface="Cambria"/>
              </a:rPr>
              <a:t>12 + 500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6243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77"/>
                </a:solidFill>
                <a:latin typeface="Calibri"/>
              </a:rPr>
              <a:t>clinical features + top-variance genes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Public data replaces the paper's Stanford cohort, which is under NDA.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Gene expression stands in for radiomic features: many features, few patients.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Outcome: overall survival in months, with right-censoring handled by the Cox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02B"/>
                </a:solidFill>
                <a:latin typeface="Cambria"/>
              </a:rPr>
              <a:t>Method: penalised Cox, scored by cross-validation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02B"/>
                </a:solidFill>
                <a:latin typeface="Calibri"/>
              </a:rPr>
              <a:t>Cox PH + 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B77"/>
                </a:solidFill>
                <a:latin typeface="Calibri"/>
              </a:rPr>
              <a:t>Hazard depends on a weighted sum of features; ridge penalty tames 100+ genes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0" y="205740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346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02B"/>
                </a:solidFill>
                <a:latin typeface="Calibri"/>
              </a:rPr>
              <a:t>10-fold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38328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B77"/>
                </a:solidFill>
                <a:latin typeface="Calibri"/>
              </a:rPr>
              <a:t>Concordance index on held-out patients, features scaled per training fold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346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02B"/>
                </a:solidFill>
                <a:latin typeface="Calibri"/>
              </a:rPr>
              <a:t>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38328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B77"/>
                </a:solidFill>
                <a:latin typeface="Calibri"/>
              </a:rPr>
              <a:t>Penalty 0.1–50 and 25–500 genes; best: 100 genes, penalty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39" y="2057400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39" y="28346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02B"/>
                </a:solidFill>
                <a:latin typeface="Calibri"/>
              </a:rPr>
              <a:t>Interpret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383280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B77"/>
                </a:solidFill>
                <a:latin typeface="Calibri"/>
              </a:rPr>
              <a:t>Out-of-fold risk scores → KM curves, log-rank, hazard ratios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02B"/>
                </a:solidFill>
                <a:latin typeface="Cambria"/>
              </a:rPr>
              <a:t>Combining clinical and gene data gives the best C-index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468880"/>
                <a:gridCol w="4572000"/>
              </a:tblGrid>
              <a:tr h="6858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Untuned</a:t>
                      </a:r>
                    </a:p>
                  </a:txBody>
                  <a:tcPr anchor="ctr"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Tuned</a:t>
                      </a:r>
                    </a:p>
                  </a:txBody>
                  <a:tcPr anchor="ctr">
                    <a:solidFill>
                      <a:srgbClr val="1420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4202B"/>
                          </a:solidFill>
                          <a:latin typeface="Calibri"/>
                        </a:rPr>
                        <a:t>Clinical (12 features)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4202B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4202B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4202B"/>
                          </a:solidFill>
                          <a:latin typeface="Calibri"/>
                        </a:rPr>
                        <a:t>Expression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4202B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4202B"/>
                          </a:solidFill>
                          <a:latin typeface="Calibri"/>
                        </a:rPr>
                        <a:t>0.64  (100 genes, penalty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4202B"/>
                          </a:solidFill>
                          <a:latin typeface="Calibri"/>
                        </a:rPr>
                        <a:t>Combined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4202B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A9D8F"/>
                          </a:solidFill>
                          <a:latin typeface="Calibri"/>
                        </a:rPr>
                        <a:t>0.67  (100 genes, penalty 1)</a:t>
                      </a:r>
                    </a:p>
                  </a:txBody>
                  <a:tcPr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B77"/>
                </a:solidFill>
                <a:latin typeface="Calibri"/>
              </a:rPr>
              <a:t>10-fold CV concordance index (0.5 = coin flip, 1.0 = perfect ranking). Tuned scores are the best of a sweep chosen on the same CV, so slightly optimistic.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02B"/>
                </a:solidFill>
                <a:latin typeface="Cambria"/>
              </a:rPr>
              <a:t>High-risk patients die sooner</a:t>
            </a:r>
          </a:p>
        </p:txBody>
      </p:sp>
      <p:pic>
        <p:nvPicPr>
          <p:cNvPr id="3" name="Picture 2" descr="km_high_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96" y="1280160"/>
            <a:ext cx="6291327" cy="52120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463040"/>
            <a:ext cx="3749039" cy="1417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92440" y="1627632"/>
            <a:ext cx="3291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Cambria"/>
              </a:rPr>
              <a:t>p &lt; 0.001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2350008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77"/>
                </a:solidFill>
                <a:latin typeface="Calibri"/>
              </a:rPr>
              <a:t>log-rank test, high vs low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017520"/>
            <a:ext cx="3749039" cy="1417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3182112"/>
            <a:ext cx="3291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D99A1E"/>
                </a:solidFill>
                <a:latin typeface="Cambria"/>
              </a:rPr>
              <a:t>2.26×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904487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77"/>
                </a:solidFill>
                <a:latin typeface="Calibri"/>
              </a:rPr>
              <a:t>hazard of death, high vs low  (95% CI 1.48–3.45)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572000"/>
            <a:ext cx="3749039" cy="141732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4736592"/>
            <a:ext cx="3291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9D8F"/>
                </a:solidFill>
                <a:latin typeface="Cambria"/>
              </a:rPr>
              <a:t>35 vs 16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5458968"/>
            <a:ext cx="3291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6B77"/>
                </a:solidFill>
                <a:latin typeface="Calibri"/>
              </a:rPr>
              <a:t>median survival, low vs high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02B"/>
                </a:solidFill>
                <a:latin typeface="Cambria"/>
              </a:rPr>
              <a:t>Which features move the hazard?</a:t>
            </a:r>
          </a:p>
        </p:txBody>
      </p:sp>
      <p:pic>
        <p:nvPicPr>
          <p:cNvPr id="3" name="Picture 2" descr="forest_combined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3307"/>
            <a:ext cx="5760720" cy="5165784"/>
          </a:xfrm>
          <a:prstGeom prst="rect">
            <a:avLst/>
          </a:prstGeom>
        </p:spPr>
      </p:pic>
      <p:pic>
        <p:nvPicPr>
          <p:cNvPr id="4" name="Picture 3" descr="forest_clin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61429"/>
            <a:ext cx="5486400" cy="42495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02B"/>
                </a:solidFill>
                <a:latin typeface="Cambria"/>
              </a:rPr>
              <a:t>Covariate effects on predicted survival</a:t>
            </a:r>
          </a:p>
        </p:txBody>
      </p:sp>
      <p:pic>
        <p:nvPicPr>
          <p:cNvPr id="3" name="Picture 2" descr="covariat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61" y="1234440"/>
            <a:ext cx="7197397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737360"/>
            <a:ext cx="30175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77"/>
                </a:solidFill>
                <a:latin typeface="Calibri"/>
              </a:rPr>
              <a:t>One feature changes per panel; all others stay at the cohort median or mean.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77"/>
                </a:solidFill>
                <a:latin typeface="Calibri"/>
              </a:rPr>
              <a:t>Curves are model predictions, not raw data.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C6B77"/>
                </a:solidFill>
                <a:latin typeface="Calibri"/>
              </a:rPr>
              <a:t>Wider gaps between curves mean a larger effect.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4202B"/>
                </a:solidFill>
                <a:latin typeface="Cambria"/>
              </a:rPr>
              <a:t>Live demo: risk calculator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9D8F"/>
                </a:solidFill>
                <a:latin typeface="Cambria"/>
              </a:rPr>
              <a:t>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Clinical features and top gene levels, or start from a real cohort patient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9D8F"/>
                </a:solidFill>
                <a:latin typeface="Cambria"/>
              </a:rPr>
              <a:t>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9260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Relative hazard vs the average patient, percentile, high/low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82880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4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9D8F"/>
                </a:solidFill>
                <a:latin typeface="Cambria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92608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Predicted survival curve and the features driving the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C6B77"/>
                </a:solidFill>
                <a:latin typeface="Courier New"/>
              </a:rPr>
              <a:t>streamlit run demo_app.py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Takeaways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6EEF2"/>
                </a:solidFill>
                <a:latin typeface="Calibri"/>
              </a:rPr>
              <a:t>What we found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EF2"/>
                </a:solidFill>
                <a:latin typeface="Calibri"/>
              </a:rPr>
              <a:t>Clinical + expression beats either alone (C-index 0.67 vs 0.63 / 0.64).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EF2"/>
                </a:solidFill>
                <a:latin typeface="Calibri"/>
              </a:rPr>
              <a:t>Out-of-fold risk groups separate clearly (p &lt; 0.001).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EF2"/>
                </a:solidFill>
                <a:latin typeface="Calibri"/>
              </a:rPr>
              <a:t>Regularisation matters: untuned expression models barely beat chance.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554480"/>
            <a:ext cx="51206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E6EEF2"/>
                </a:solidFill>
                <a:latin typeface="Calibri"/>
              </a:rPr>
              <a:t>Limitations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EF2"/>
                </a:solidFill>
                <a:latin typeface="Calibri"/>
              </a:rPr>
              <a:t>183 patients: wide intervals, one cohort, no external validation.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EF2"/>
                </a:solidFill>
                <a:latin typeface="Calibri"/>
              </a:rPr>
              <a:t>Tuned scores are slightly optimistic (sweep on same CV).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EF2"/>
                </a:solidFill>
                <a:latin typeface="Calibri"/>
              </a:rPr>
              <a:t>Median imputation of missing clinical values.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EF2"/>
                </a:solidFill>
                <a:latin typeface="Calibri"/>
              </a:rPr>
              <a:t>Research prototype, not for clinical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